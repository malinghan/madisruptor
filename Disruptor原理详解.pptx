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1097280"/>
            <a:ext cx="2286000" cy="2286000"/>
          </a:xfrm>
          <a:prstGeom prst="ellipse">
            <a:avLst/>
          </a:prstGeom>
          <a:solidFill>
            <a:srgbClr val="00D2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2560320"/>
            <a:ext cx="1371600" cy="1371600"/>
          </a:xfrm>
          <a:prstGeom prst="ellipse">
            <a:avLst/>
          </a:prstGeom>
          <a:solidFill>
            <a:srgbClr val="7C4D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JAVA 高性能队列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Disruptor 原理详解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Microsoft YaHei"/>
              </a:defRPr>
            </a:pPr>
            <a:r>
              <a:t>从原理到实战 · 从入门到精通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36576"/>
          </a:xfrm>
          <a:prstGeom prst="roundRect">
            <a:avLst/>
          </a:prstGeom>
          <a:solidFill>
            <a:srgbClr val="3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GitHub: malinghan/madisruptor</a:t>
            </a:r>
          </a:p>
          <a:p>
            <a:pPr>
              <a:spcAft>
                <a:spcPts val="840"/>
              </a:spcAft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基于 LMAX Disruptor 框架 · 8 章文档 + 8 个 Demo · Java 11+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目录 ·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8 个章节，循序渐进掌握 Disruptor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411480" cy="41148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26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为什么需要 Disruptor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传统队列痛点分析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481328"/>
            <a:ext cx="411480" cy="41148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426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核心概念与架构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9 大组件详解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1408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231136"/>
            <a:ext cx="411480" cy="41148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176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RingBuffer 原理详解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位运算 · 缓存行填充 · 预分配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121408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2231136"/>
            <a:ext cx="411480" cy="41148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176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Sequence 与并发控制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CAS 无锁 · 内存屏障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71216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980944"/>
            <a:ext cx="411480" cy="41148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WaitStrategy 等待策略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5 种策略对比与选型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2871216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2980944"/>
            <a:ext cx="411480" cy="41148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EventProcessor 事件处理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批量消费 · 管道 · 菱形依赖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621024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3730752"/>
            <a:ext cx="411480" cy="41148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675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性能测试与最佳实践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968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Benchmark · 调优 · 常见陷阱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3621024"/>
            <a:ext cx="2743200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66160" y="3730752"/>
            <a:ext cx="411480" cy="41148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3675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手写简易 Disruptor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3968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Microsoft YaHei"/>
              </a:defRPr>
            </a:pPr>
            <a:r>
              <a:t>从零实现核心功能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学习路线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920240"/>
            <a:ext cx="5029200" cy="914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1CF66"/>
                </a:solidFill>
                <a:latin typeface="Microsoft YaHei"/>
              </a:defRPr>
            </a:pPr>
            <a:r>
              <a:t>第一阶段 · 快速入门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331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Ch01-02 + Demo01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D43B"/>
                </a:solidFill>
                <a:latin typeface="Microsoft YaHei"/>
              </a:defRPr>
            </a:pPr>
            <a:r>
              <a:t>1-2 小时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834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1CF6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063240"/>
            <a:ext cx="5029200" cy="914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第二阶段 · 原理深入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Ch03-06 + Demo02-05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3154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D43B"/>
                </a:solidFill>
                <a:latin typeface="Microsoft YaHei"/>
              </a:defRPr>
            </a:pPr>
            <a:r>
              <a:t>3-5 小时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977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206240"/>
            <a:ext cx="5029200" cy="914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Microsoft YaHei"/>
              </a:defRPr>
            </a:pPr>
            <a:r>
              <a:t>第三阶段 · 实战精通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617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Ch07-08 + Demo06-08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4297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D43B"/>
                </a:solidFill>
                <a:latin typeface="Microsoft YaHei"/>
              </a:defRPr>
            </a:pPr>
            <a:r>
              <a:t>3-5 小时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5440680"/>
            <a:ext cx="5029200" cy="7315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配套 Demo: 每章配有可直接运行的 Java Demo 代码</a:t>
            </a:r>
            <a:br/>
            <a:r>
              <a:t>mvn exec:java -Dexec.mainClass="com.madisruptor.demo0X..."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01  为什么需要 Disruptor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传统并发队列的四大痛点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21031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411480" cy="4114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锁竞争 Lock Contention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所有生产者/消费者竞争同一把锁</a:t>
            </a:r>
            <a:br/>
            <a:r>
              <a:t>频繁的线程阻塞唤醒，上下文切换开销巨大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394960" cy="21031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411480" cy="411480"/>
          </a:xfrm>
          <a:prstGeom prst="roundRect">
            <a:avLst/>
          </a:prstGeom>
          <a:solidFill>
            <a:srgbClr val="FF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伪共享 False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putIndex 和 takeIndex 在同一缓存行</a:t>
            </a:r>
            <a:br/>
            <a:r>
              <a:t>一个线程修改 → 整个 Cache Line 失效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394960" cy="21031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794760"/>
            <a:ext cx="411480" cy="411480"/>
          </a:xfrm>
          <a:prstGeom prst="round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94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频繁 GC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LinkedBlockingQueue 每次入队 new Node</a:t>
            </a:r>
            <a:br/>
            <a:r>
              <a:t>大量临时对象 → GC 压力 → STW 暂停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57600"/>
            <a:ext cx="5394960" cy="21031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794760"/>
            <a:ext cx="411480" cy="41148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794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缓存不友好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链表节点内存随机分布</a:t>
            </a:r>
            <a:br/>
            <a:r>
              <a:t>CPU 预取失效，频繁 Cache Miss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伪共享 (False Sharing) 图解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18288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CPU Cache Line (64 bytes)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│  head (8B)  │  tail (8B)  │  其他... │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└──────────────────────────────────────┘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      ↑               ↑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   Thread A         Thread B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   (生产者)          (消费者)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Thread A 修改 head → 整个缓存行失效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→ Thread B 必须重新加载 tail (虽然没被改！)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内存布局对比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303520" cy="13716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LinkedBlockingQueue (链表):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[Node1] → ... → [Node2] → ... → [Node3]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0x100          0x900          0x400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↑ 随机分布，缓存不友好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RingBuffer (数组):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[Slot0][Slot1][Slot2][Slot3][Slot4][Slot5]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0x100 0x120  0x140  0x160  0x180  0x1A0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↑ 连续分布，CPU 缓存友好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Disruptor 的解决方案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8404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传统队列问题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Disruptor 解决方案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锁竞争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1CF66"/>
                          </a:solidFill>
                          <a:latin typeface="Microsoft YaHei"/>
                        </a:defRPr>
                      </a:pPr>
                      <a:r>
                        <a:t>CAS 无锁 + Sequence 协调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伪共享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1CF66"/>
                          </a:solidFill>
                          <a:latin typeface="Microsoft YaHei"/>
                        </a:defRPr>
                      </a:pPr>
                      <a:r>
                        <a:t>Cache Line Padding (缓存行填充)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频繁 GC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1CF66"/>
                          </a:solidFill>
                          <a:latin typeface="Microsoft YaHei"/>
                        </a:defRPr>
                      </a:pPr>
                      <a:r>
                        <a:t>预分配 Event 对象，循环复用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缓存不友好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1CF66"/>
                          </a:solidFill>
                          <a:latin typeface="Microsoft YaHei"/>
                        </a:defRPr>
                      </a:pPr>
                      <a:r>
                        <a:t>数组 + 顺序访问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固定等待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1CF66"/>
                          </a:solidFill>
                          <a:latin typeface="Microsoft YaHei"/>
                        </a:defRPr>
                      </a:pPr>
                      <a:r>
                        <a:t>可插拔 WaitStrategy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逐条处理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1CF66"/>
                          </a:solidFill>
                          <a:latin typeface="Microsoft YaHei"/>
                        </a:defRPr>
                      </a:pPr>
                      <a:r>
                        <a:t>批量消费 (Batching)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02  核心概念与架构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Disruptor 核心架构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生产者 → Sequencer → RingBuffer → SequenceBarrier → 消费者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Disruptor 核心架构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Producer(s)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┌──────────┐  ┌──────────┐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│Producer 1│  │Producer 2│  ...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└────┬─────┘  └────┬─────┘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│              │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▼              ▼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┌─────────────────────────────────┐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       Sequencer              │  协调生产者发布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SingleProducerSequencer       │  单生产者: 无竞争, 最高性能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MultiProducerSequencer        │  多生产者: CAS 无锁竞争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└─────────────┬───────────────────┘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      │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      ▼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┌─────────────────────────────────┐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      RingBuffer              │  预分配的环形数组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 ┌───┬───┬───┬───┬───┬───┐   │  size = 2^n (位运算取模)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 │ 0 │ 1 │ 2 │ 3 │ 4 │ 5 │   │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 └───┴───┴───┴───┴───┴───┘   │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└─────────────┬───────────────────┘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      │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      ▼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┌─────────────────────────────────┐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   SequenceBarrier            │  协调消费者等待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      + WaitStrategy             │  BusySpin / Yield / Block / ...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└─────────────┬───────────────────┘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┌────────┼────────┐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▼        ▼        ▼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┌──────────┐┌──────────┐┌──────────┐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│Consumer 1││Consumer 2││Consumer 3│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│(EventHdl)││(EventHdl)││(WorkHdl) │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└──────────┘└──────────┘└──────────┘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核心概念速查表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9 大组件一览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RingBuffer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环形数组，存储 Event 的容器</a:t>
            </a:r>
            <a:br/>
            <a:r>
              <a:t>大小必须为 2 的 N 次方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89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onsolas"/>
              </a:defRPr>
            </a:pPr>
            <a: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RingBuffer 中的数据载体 (POJO)</a:t>
            </a:r>
            <a:br/>
            <a:r>
              <a:t>预创建，循环复用，零 GC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89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onsolas"/>
              </a:defRPr>
            </a:pPr>
            <a:r>
              <a:t>EventFactory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创建 Event 的工厂</a:t>
            </a:r>
            <a:br/>
            <a:r>
              <a:t>用于预填充 RingBuffer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01752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272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onsolas"/>
              </a:defRPr>
            </a:pPr>
            <a:r>
              <a:t>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递增序号，标识 RingBuffer 位置</a:t>
            </a:r>
            <a:br/>
            <a:r>
              <a:t>带 CacheLine Padding 避免伪共享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01752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1272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onsolas"/>
              </a:defRPr>
            </a:pPr>
            <a:r>
              <a:t>Sequencer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20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协调生产者的序号分配</a:t>
            </a:r>
            <a:br/>
            <a:r>
              <a:t>Single (无锁) / Multi (CAS)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01752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1272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22B"/>
                </a:solidFill>
                <a:latin typeface="Consolas"/>
              </a:defRPr>
            </a:pPr>
            <a:r>
              <a:t>SequenceBarrier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520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协调消费者等待可用事件</a:t>
            </a:r>
            <a:br/>
            <a:r>
              <a:t>内部委托给 WaitStrategy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75488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646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22B"/>
                </a:solidFill>
                <a:latin typeface="Consolas"/>
              </a:defRPr>
            </a:pPr>
            <a:r>
              <a:t>WaitStrategy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消费者等待策略</a:t>
            </a:r>
            <a:br/>
            <a:r>
              <a:t>BusySpin / Yield / Sleep / Block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75488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8646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Consolas"/>
              </a:defRPr>
            </a:pPr>
            <a:r>
              <a:t>EventHandler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257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事件处理器接口</a:t>
            </a:r>
            <a:br/>
            <a:r>
              <a:t>onEvent(event, seq, endOfBatch)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754880"/>
            <a:ext cx="3657600" cy="1554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8646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Consolas"/>
              </a:defRPr>
            </a:pPr>
            <a:r>
              <a:t>EventProcessor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257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事件处理的执行单元</a:t>
            </a:r>
            <a:br/>
            <a:r>
              <a:t>BatchEventProcessor / WorkProcessor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事件发布与消费流程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生产者发布流程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256032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Step 1: 申请序号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long sequence = ringBuffer.next();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Step 2: 获取该位置的 Event 对象 (预分配)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OrderEvent event = ringBuffer.get(sequence);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Step 3: 填充数据 (覆盖写入, 不 new 对象!)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event.setOrderId(123L);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event.setPrice(99.9);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Step 4: 发布事件 (更新 cursor, 通知消费者)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ringBuffer.publish(sequence);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Microsoft YaHei"/>
              </a:defRPr>
            </a:pPr>
            <a:r>
              <a:t>推荐: EventTranslator 方式 (更安全)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5303520" cy="146304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一步完成, 不会忘记 publish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ringBuffer.publishEvent(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(event, sequence, data) -&gt; {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event.setOrderId(data);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orderId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Microsoft YaHei"/>
              </a:defRPr>
            </a:pPr>
            <a:r>
              <a:t>消费者消费流程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256032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Step 1: 等待可用序号 (可能批量返回!)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long available = barrier.waitFor(nextSeq);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Step 2: 批量处理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while (nextSeq &lt;= available) {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Event e = ringBuffer.get(nextSeq);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handler.onEvent(e, nextSeq,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nextSeq == available); // endOfBatch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nextSeq++;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Step 3: 更新消费进度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sequence.set(available);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Microsoft YaHei"/>
              </a:defRPr>
            </a:pPr>
            <a:r>
              <a:t>批量消费的优势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5303520" cy="146304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生产者发了 seq 5,6,7,8,9,10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消费者在 seq 4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传统: 6次 wait → 6次 process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Disruptor: 1次 waitFor(5)→返回10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  → 一次性处理 6 个事件!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03  RingBuffer 原理详解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位运算取模的妙用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bufferSize 必须是 2 的幂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03520" cy="32004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普通取模 (除法: 20-90 CPU 时钟周期)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index = sequence % bufferSize;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位运算取模 (位与: 1 个时钟周期!)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index = sequence &amp; (bufferSize - 1);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原理 (bufferSize=8):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bufferSize   = 8  → 二进制: 1000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bufferSize-1 = 7  → 二进制: 0111 (掩码)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sequence=13 → 二进制: 1101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13 &amp; 7      → 二进制: 0101 = 5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13 % 8      →                 5 ✓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性能差距: 20~90 倍!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// 每秒数百万次操作, 差距非常显著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环形缓冲区示意图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029200" cy="27432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┌───┐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┌───►│ 7 │◄───┐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│    └───┘    │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┌───┐        ┌───┐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│ 6 │        │ 0 │  ← cursor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└───┘        └───┘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┌───┐        ┌───┐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│ 5 │        │ 1 │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└───┘        └───┘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│    ┌───┐    │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└───►│ 4 │◄───┘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     └───┘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┌───┐    ┌───┐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│ 3 │────│ 2 │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└───┘    └───┘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RingBuffer (size=8, 即 2^3)</a:t>
            </a:r>
          </a:p>
          <a:p>
            <a:pPr>
              <a:spcAft>
                <a:spcPts val="100"/>
              </a:spcAft>
              <a:defRPr sz="1300">
                <a:solidFill>
                  <a:srgbClr val="BBBBCC"/>
                </a:solidFill>
                <a:latin typeface="Consolas"/>
              </a:defRPr>
            </a:pPr>
            <a:r>
              <a:t> index = sequence &amp; 0x07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43B"/>
                </a:solidFill>
                <a:latin typeface="Microsoft YaHei"/>
              </a:defRPr>
            </a:pPr>
            <a:r>
              <a:t>RingBuffer 三大优势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3566160" cy="10972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303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Microsoft YaHei"/>
              </a:defRPr>
            </a:pPr>
            <a:r>
              <a:t>固定大小，预分配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623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一次性分配所有内存，GC 友好，对象在老年代长期存活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212080"/>
            <a:ext cx="3566160" cy="10972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5303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连续内存，缓存友好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623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数组结构 + 顺序访问，CPU 预取高效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5212080"/>
            <a:ext cx="3566160" cy="10972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5303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Microsoft YaHei"/>
              </a:defRPr>
            </a:pPr>
            <a:r>
              <a:t>位运算循环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623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只维护递增的 sequence，无需移动数据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缓存行填充 (Cache Line Padding)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消除伪共享的核心技术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36576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// Disruptor Sequence 类的缓存行填充设计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abstract class RingBufferPad {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protected long p1, p2, p3, p4, p5, p6, p7;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// 前置填充: 7 × 8 = 56 bytes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abstract class RingBufferFields&lt;E&gt;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extends RingBufferPad {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// 实际字段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private final long indexMask;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private final Object[] entries;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protected final int bufferSize;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protected final Sequencer sequencer;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public final class RingBuffer&lt;E&gt;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extends RingBufferFields&lt;E&gt; {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// 后置填充: 7 × 8 = 56 bytes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protected long p1, p2, p3, p4, p5, p6, p7;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填充后的内存布局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029200" cy="18288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Cache Line 1     Cache Line 2     Cache Line 3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┌──────────────┐ ┌──────────────┐ ┌──────────────┐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│ p1 p2 p3 p4 │ │              │ │ p5 p6 p7     │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│ p5 p6 p7    │ │  value (8B)  │ │              │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│ (前置填充)    │ │ (独占缓存行!) │ │ (后置填充)    │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└──────────────┘ └──────────────┘ └──────────────┘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→ value 独占一个 64-byte 缓存行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→ 不同线程修改不同 Sequence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→ 互不干扰, 零伪共享!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Microsoft YaHei"/>
              </a:defRPr>
            </a:pPr>
            <a:r>
              <a:t>预分配与对象复用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297680"/>
            <a:ext cx="5029200" cy="22860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// 传统方式: 每次 new 对象 (GC 压力大)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queue.put(new OrderEvent(id, price));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// Disruptor: 初始化时一次性创建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for (int i = 0; i &lt; bufferSize; i++)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entries[i] = factory.newInstance();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// 发布时只是覆盖写入, 不 new 对象!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long seq = ringBuffer.next();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OrderEvent e = ringBuffer.get(seq);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e.setOrderId(id);  // 覆盖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ringBuffer.publish(seq);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04  Sequence 与并发控制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Single vs Multi ProducerSequencer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无锁并发的核心设计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1CF66"/>
                </a:solidFill>
                <a:latin typeface="Microsoft YaHei"/>
              </a:defRPr>
            </a:pPr>
            <a:r>
              <a:t>SingleProducerSequencer (最高性能)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32004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// 单生产者: 无竞争, 无CAS, 非volatile读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public long next()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long nextValue = this.nextValue;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// ↑ 非volatile! 性能极高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long nextSeq = nextValue + 1;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long wrapPoint = nextSeq - bufferSize;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// 只在必要时查询消费者最小 sequence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if (wrapPoint &gt; cachedGatingSequence)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long minSeq;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while (wrapPoint &gt; (minSeq =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    getMinGatingSequence()))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LockSupport.parkNanos(1);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cachedGatingSequence = minSeq;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this.nextValue = nextSeq;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return nextSeq;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22B"/>
                </a:solidFill>
                <a:latin typeface="Microsoft YaHei"/>
              </a:defRPr>
            </a:pPr>
            <a:r>
              <a:t>MultiProducerSequencer (CAS竞争)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320040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// 多生产者: CAS 无锁竞争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public long next()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long current;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long next;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do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current = cursor.get();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// ↑ volatile读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next = current + 1;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long wrapPoint = next - bufferSize;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if (wrapPoint &gt; cachedGatingSeq)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// 等待消费者...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continue;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} else if (cursor.compareAndSet(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    current, next))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break; // CAS成功!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// CAS失败则重试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} while (true);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return next;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11247120" cy="13716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关键区别与建议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SingleProducer: nextValue 非 volatile, 无 CAS, 使用 cachedValue 减少 volatile 读 → 性能最高</a:t>
            </a:r>
            <a:br/>
            <a:r>
              <a:t>MultiProducer: cursor 是 volatile, 使用 CAS 竞争 + availableBuffer 标记可见性 → 有额外开销</a:t>
            </a:r>
            <a:br/>
            <a:r>
              <a:t>最佳实践: 即使有多个数据来源, 也尽量汇聚到一个线程后再发布 (变成单生产者)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05  WaitStrategy 等待策略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五种等待策略对比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消费者没有新事件时怎么等？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914400"/>
                <a:gridCol w="1097280"/>
                <a:gridCol w="2560320"/>
                <a:gridCol w="2926080"/>
              </a:tblGrid>
              <a:tr h="5638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原理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CPU占用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延迟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1B2F"/>
                          </a:solidFill>
                          <a:latin typeface="Microsoft YaHei"/>
                        </a:defRPr>
                      </a:pPr>
                      <a:r>
                        <a:t>核心实现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B6B"/>
                          </a:solidFill>
                          <a:latin typeface="Consolas"/>
                        </a:defRPr>
                      </a:pPr>
                      <a:r>
                        <a:t>BusySpinWaitStrategy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纯自旋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极低(ns)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超低延迟 + CPU充足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Consolas"/>
                        </a:defRPr>
                      </a:pPr>
                      <a:r>
                        <a:t>while(...) onSpinWait();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CF66"/>
                          </a:solidFill>
                          <a:latin typeface="Consolas"/>
                        </a:defRPr>
                      </a:pPr>
                      <a:r>
                        <a:t>YieldingWaitStrategy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自旋100次+yield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低(亚μs)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低延迟首选, 推荐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Consolas"/>
                        </a:defRPr>
                      </a:pPr>
                      <a:r>
                        <a:t>spin 100 → Thread.yield()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D2FF"/>
                          </a:solidFill>
                          <a:latin typeface="Consolas"/>
                        </a:defRPr>
                      </a:pPr>
                      <a:r>
                        <a:t>SleepingWaitStrategy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三段式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中(μs)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后台任务如日志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Consolas"/>
                        </a:defRPr>
                      </a:pPr>
                      <a:r>
                        <a:t>spin → yield → sleep(1ns)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C4DFF"/>
                          </a:solidFill>
                          <a:latin typeface="Consolas"/>
                        </a:defRPr>
                      </a:pPr>
                      <a:r>
                        <a:t>BlockingWaitStrategy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Lock+Condition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最低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高(ms)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CPU受限/吞吐优先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Consolas"/>
                        </a:defRPr>
                      </a:pPr>
                      <a:r>
                        <a:t>lock → condition.await()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922B"/>
                          </a:solidFill>
                          <a:latin typeface="Consolas"/>
                        </a:defRPr>
                      </a:pPr>
                      <a:r>
                        <a:t>TimeoutBlocking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超时阻塞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可控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需超时处理如心跳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BBBCC"/>
                          </a:solidFill>
                          <a:latin typeface="Consolas"/>
                        </a:defRPr>
                      </a:pPr>
                      <a:r>
                        <a:t>condition.await(timeout)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43B"/>
                </a:solidFill>
                <a:latin typeface="Microsoft YaHei"/>
              </a:defRPr>
            </a:pPr>
            <a:r>
              <a:t>选型决策指南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212080"/>
            <a:ext cx="10972800" cy="128016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延迟 &lt; 1μs?  → CPU充足? → BusySpin    |  CPU受限? → Yielding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延迟 &lt; 100μs? → Yielding 或 Sleeping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延迟 &gt; 100μs? → 需超时? → TimeoutBlocking  |  不需要? → Blocking 或 Sleeping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Log4j2 AsyncLogger 默认使用 TimeoutBlockingWaitStrategy (日志对延迟不敏感, 需节省CPU)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06  EventProcessor 事件处理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消费者组合模式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Disruptor DSL 灵活构建处理管道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577840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串行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303520" cy="109728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[P] → [C1] → [C2] → [C3]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43B"/>
                </a:solidFill>
                <a:latin typeface="Consolas"/>
              </a:defRPr>
            </a:pPr>
            <a:r>
              <a:t>.handleEventsWith(h1).then(h2).then(h3)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77840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Microsoft YaHei"/>
              </a:defRPr>
            </a:pPr>
            <a:r>
              <a:t>并行 Broadcast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5303520" cy="109728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[P] → [C1]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→ [C2]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→ [C3]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43B"/>
                </a:solidFill>
                <a:latin typeface="Consolas"/>
              </a:defRPr>
            </a:pPr>
            <a:r>
              <a:t>.handleEventsWith(h1, h2, h3)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31920"/>
            <a:ext cx="5577840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22B"/>
                </a:solidFill>
                <a:latin typeface="Microsoft YaHei"/>
              </a:defRPr>
            </a:pPr>
            <a:r>
              <a:t>竞争 WorkerPool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89120"/>
            <a:ext cx="5303520" cy="109728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[P] → [W1] 或 [W2] 或 [W3]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(每个事件只处理一次)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43B"/>
                </a:solidFill>
                <a:latin typeface="Consolas"/>
              </a:defRPr>
            </a:pPr>
            <a:r>
              <a:t>.handleEventsWithWorkerPool(w1,w2,w3)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577840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菱形 Diamond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389120"/>
            <a:ext cx="5303520" cy="109728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→ [C1] ─┐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[P]            ├→ [C3]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→ [C2] ─┘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623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43B"/>
                </a:solidFill>
                <a:latin typeface="Consolas"/>
              </a:defRPr>
            </a:pPr>
            <a:r>
              <a:t>.handleEventsWith(h1,h2).then(h3)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07  性能测试与最佳实践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性能基准测试结果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Demo06: Disruptor vs ArrayBlockingQueue  (100万事件)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单生产者-单消费者 (1P-1C)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Disruptor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83080"/>
            <a:ext cx="275034" cy="320040"/>
          </a:xfrm>
          <a:prstGeom prst="roundRect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2554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Microsoft YaHei"/>
              </a:defRPr>
            </a:pPr>
            <a:r>
              <a:t>11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ArrayBlockingQueue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697480"/>
            <a:ext cx="3200400" cy="3200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128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029200" cy="10972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Disruptor 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51CF66"/>
                </a:solidFill>
                <a:latin typeface="Microsoft YaHei"/>
              </a:defRPr>
            </a:pPr>
            <a:r>
              <a:t>11.6x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Microsoft YaHei"/>
              </a:defRPr>
            </a:pPr>
            <a:r>
              <a:t>多生产者-单消费者 (3P-1C)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Disruptor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783080"/>
            <a:ext cx="1862527" cy="320040"/>
          </a:xfrm>
          <a:prstGeom prst="roundRect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40767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Microsoft YaHei"/>
              </a:defRPr>
            </a:pPr>
            <a:r>
              <a:t>71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ArrayBlockingQueue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697480"/>
            <a:ext cx="3200400" cy="3200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4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122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  <a:latin typeface="Microsoft YaHei"/>
              </a:defRPr>
            </a:pPr>
            <a:r>
              <a:t>常见陷阱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23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保存 Event 引用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Event 对象会被复用覆盖! 需复制数据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忘记 publish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必须在 finally 中 publish, 否则 sequence 断裂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303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消费者处理太慢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532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慢消费者阻塞生产者, 考虑 WorkerPool 并行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未设异常处理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未捕获异常导致消费者停止, 需设 ExceptionHandler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56032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08  手写简易 Disruptor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MiniDisruptor 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从零实现核心功能, 彻底理解原理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MiniSequence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带缓存行填充的序号</a:t>
            </a:r>
            <a:br/>
            <a:r>
              <a:t>前后各7个long padding</a:t>
            </a:r>
            <a:br/>
            <a:r>
              <a:t>VarHandle实现CAS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89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onsolas"/>
              </a:defRPr>
            </a:pPr>
            <a:r>
              <a:t>MiniRingBuffer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预分配环形数组</a:t>
            </a:r>
            <a:br/>
            <a:r>
              <a:t>位运算取模</a:t>
            </a:r>
            <a:br/>
            <a:r>
              <a:t>追尾保护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89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22B"/>
                </a:solidFill>
                <a:latin typeface="Consolas"/>
              </a:defRPr>
            </a:pPr>
            <a:r>
              <a:t>MiniBatchProcessor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批量事件处理器</a:t>
            </a:r>
            <a:br/>
            <a:r>
              <a:t>waitFor → 批量消费</a:t>
            </a:r>
            <a:br/>
            <a:r>
              <a:t>更新消费进度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4904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58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Consolas"/>
              </a:defRPr>
            </a:pPr>
            <a:r>
              <a:t>MiniWaitStrategies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3种等待策略实现</a:t>
            </a:r>
            <a:br/>
            <a:r>
              <a:t>Yielding/Sleeping</a:t>
            </a:r>
            <a:br/>
            <a:r>
              <a:t>/BusySpin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74904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858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onsolas"/>
              </a:defRPr>
            </a:pPr>
            <a:r>
              <a:t>MiniDisruptor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门面整合类</a:t>
            </a:r>
            <a:br/>
            <a:r>
              <a:t>创建/注册/启动</a:t>
            </a:r>
            <a:br/>
            <a:r>
              <a:t>/关闭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4904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858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性能测试结果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51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100万事件测试</a:t>
            </a:r>
            <a:br/>
            <a:r>
              <a:t>~9.4M ops/s</a:t>
            </a:r>
            <a:br/>
            <a:r>
              <a:t>接近官方性能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核心代码: MiniSequence + MiniRingBuffer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669280" cy="530352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// MiniSequence - 带缓存行填充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public class MiniSequence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// 前置填充 (7 × 8 = 56 bytes)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private long p1,p2,p3,p4,p5,p6,p7;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private volatile long value; // 实际值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// 后置填充 (7 × 8 = 56 bytes)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private long p8,p9,p10,p11,p12,p13,p14;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// VarHandle CAS (Java 9+ 推荐方式)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private static final VarHandle VALUE_HANDLE;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static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VALUE_HANDLE = MethodHandles.lookup()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.findVarHandle(MiniSequence.class,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               "value", long.class);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public long get() { return value; 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public void set(long v) { this.value = v; 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public boolean compareAndSet(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long expected, long update) {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return VALUE_HANDLE.compareAndSet(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        this, expected, update);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// MiniRingBuffer - 环形缓冲区核心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public class MiniRingBuffer&lt;E&gt; {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private final Object[] entries; // 预分配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private final int indexMask;    // bufferSize-1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private final MiniSequence cursor =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new MiniSequence(-1);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public MiniRingBuffer(MiniEventFactory&lt;E&gt; f,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                  int bufferSize) {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this.indexMask = bufferSize - 1;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this.entries = new Object[bufferSize];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// 预填充所有 Event 对象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for (int i = 0; i &lt; bufferSize; i++)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    entries[i] = f.newInstance();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public E get(long sequence) {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// 位运算取模!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return (E) entries[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    (int)(sequence &amp; indexMask)];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public long next() {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long nextSeq = nextValue + 1;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long wrapPoint = nextSeq - bufferSize;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if (wrapPoint &gt; cachedGatingValue) {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    // 等待消费者跟上... (追尾保护)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nextValue = nextSeq;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return nextSeq;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public void publish(long seq) {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 cursor.set(seq); // volatile写,通知消费者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实战案例: 高性能订单处理系统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Demo08: 菱形 + 串行混合管道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6400800" cy="2011680"/>
          </a:xfrm>
          <a:prstGeom prst="roundRect">
            <a:avLst/>
          </a:prstGeom>
          <a:solidFill>
            <a:srgbClr val="181828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处理流程 (菱形 + 串行混合):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[订单接入] → [参数校验] → [风控检查] ─┐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                   → [库存锁定] ─┤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                                 ├→ [价格计算] → [订单确认] → [清理]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DSL 代码: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disruptor.handleEventsWith(validationHandler)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   .then(riskCheckHandler, inventoryHandler)  // 并行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   .then(pricingHandler)                      // 等待两者完成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   .then(confirmHandler)</a:t>
            </a:r>
          </a:p>
          <a:p>
            <a:pPr>
              <a:spcAft>
                <a:spcPts val="100"/>
              </a:spcAft>
              <a:defRPr sz="1200">
                <a:solidFill>
                  <a:srgbClr val="BBBBCC"/>
                </a:solidFill>
                <a:latin typeface="Consolas"/>
              </a:defRPr>
            </a:pPr>
            <a:r>
              <a:t>           .then(cleanHandler);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474720"/>
            <a:ext cx="3657600" cy="10972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Microsoft YaHei"/>
              </a:defRPr>
            </a:pPr>
            <a:r>
              <a:t>1. 参数校验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校验订单参数有效性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474720"/>
            <a:ext cx="3657600" cy="10972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3566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22B"/>
                </a:solidFill>
                <a:latin typeface="Microsoft YaHei"/>
              </a:defRPr>
            </a:pPr>
            <a:r>
              <a:t>2. 风控检查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886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金额&gt;5万 → 高风险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474720"/>
            <a:ext cx="3657600" cy="10972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566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22B"/>
                </a:solidFill>
                <a:latin typeface="Microsoft YaHei"/>
              </a:defRPr>
            </a:pPr>
            <a:r>
              <a:t>3. 库存锁定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886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数量&gt;4 → 库存不足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46320"/>
            <a:ext cx="3657600" cy="10972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4. 价格计算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57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总额+折扣计算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846320"/>
            <a:ext cx="3657600" cy="10972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937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Microsoft YaHei"/>
              </a:defRPr>
            </a:pPr>
            <a:r>
              <a:t>5. 订单确认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257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最终确认+延迟统计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846320"/>
            <a:ext cx="3657600" cy="10972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BBB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937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CC"/>
                </a:solidFill>
                <a:latin typeface="Microsoft YaHei"/>
              </a:defRPr>
            </a:pPr>
            <a:r>
              <a:t>6. 事件清理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5257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释放大对象引用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Microsoft YaHei"/>
              </a:defRPr>
            </a:pPr>
            <a:r>
              <a:t>Disruptor 应用场景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43B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LMAX Exchange - 外汇交易核心引擎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43B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Log4j2 - AsyncLogger 底层实现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43B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消息中间件 - MQ 内部高性能缓冲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43B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实时数据处理 - 高频数据管道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43B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游戏服务器 - 高并发事件处理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640080" cy="4572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200" b="1">
                <a:solidFill>
                  <a:srgbClr val="1B1B2F"/>
                </a:solidFill>
                <a:latin typeface="Consolas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为什么 Disruptor 这么快？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六大核心优化手段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325880"/>
            <a:ext cx="457200" cy="457200"/>
          </a:xfrm>
          <a:prstGeom prst="ellipse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Microsoft YaHei"/>
              </a:defRPr>
            </a:pPr>
            <a:r>
              <a:t>预分配 · 零GC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Event 对象预创建, 循环复用</a:t>
            </a:r>
            <a:br/>
            <a:r>
              <a:t>发布时只覆盖, 不 new 对象</a:t>
            </a:r>
            <a:br/>
            <a:r>
              <a:t>零内存分配, 老年代长期存活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749039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132588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数组 · 缓存友好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连续内存布局</a:t>
            </a:r>
            <a:br/>
            <a:r>
              <a:t>CPU 预取高效</a:t>
            </a:r>
            <a:br/>
            <a:r>
              <a:t>顺序访问命中率高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749039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20" y="1325880"/>
            <a:ext cx="457200" cy="45720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Microsoft YaHei"/>
              </a:defRPr>
            </a:pPr>
            <a:r>
              <a:t>CacheLine Padding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前后各 7 个 long 填充</a:t>
            </a:r>
            <a:br/>
            <a:r>
              <a:t>value 独占一个缓存行</a:t>
            </a:r>
            <a:br/>
            <a:r>
              <a:t>消除伪共享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31920"/>
            <a:ext cx="3749039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80" y="4069080"/>
            <a:ext cx="457200" cy="457200"/>
          </a:xfrm>
          <a:prstGeom prst="ellipse">
            <a:avLst/>
          </a:prstGeom>
          <a:solidFill>
            <a:srgbClr val="FF9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22B"/>
                </a:solidFill>
                <a:latin typeface="Microsoft YaHei"/>
              </a:defRPr>
            </a:pPr>
            <a:r>
              <a:t>CAS 无锁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SingleProducer: 零竞争</a:t>
            </a:r>
            <a:br/>
            <a:r>
              <a:t>MultiProducer: CAS</a:t>
            </a:r>
            <a:br/>
            <a:r>
              <a:t>volatile 保证可见性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931920"/>
            <a:ext cx="3749039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43400" y="4069080"/>
            <a:ext cx="457200" cy="4572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Microsoft YaHei"/>
              </a:defRPr>
            </a:pPr>
            <a:r>
              <a:t>可插拔 WaitStrategy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BusySpin → 纳秒延迟</a:t>
            </a:r>
            <a:br/>
            <a:r>
              <a:t>Yielding → 亚微秒</a:t>
            </a:r>
            <a:br/>
            <a:r>
              <a:t>Blocking → 节省 CPU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31920"/>
            <a:ext cx="3749039" cy="24688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批量消费 Batching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一次 waitFor 返回多个序号</a:t>
            </a:r>
            <a:br/>
            <a:r>
              <a:t>减少系统调用和上下文切换</a:t>
            </a:r>
            <a:br/>
            <a:r>
              <a:t>endOfBatch 批量提交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743200"/>
            <a:ext cx="210312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31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GitHub 教程: github.com/malinghan/madisruptor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343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LMAX Disruptor: github.com/LMAX-Exchange/disruptor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754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技术论文: lmax-exchange.github.io/disruptor/disruptor.html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166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Mechanical Sympathy Blog: mechanical-sympathy.blogspot.com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